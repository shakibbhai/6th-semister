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8229600" cx="14630400"/>
  <p:notesSz cx="8229600" cy="14630400"/>
  <p:embeddedFontLst>
    <p:embeddedFont>
      <p:font typeface="Roboto"/>
      <p:regular r:id="rId39"/>
      <p:bold r:id="rId40"/>
      <p:italic r:id="rId41"/>
      <p:boldItalic r:id="rId42"/>
    </p:embeddedFont>
    <p:embeddedFont>
      <p:font typeface="Alexandria"/>
      <p:regular r:id="rId43"/>
      <p:bold r:id="rId44"/>
    </p:embeddedFon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8E5D36-4FF1-49C3-901A-A2F7955D37CA}">
  <a:tblStyle styleId="{A28E5D36-4FF1-49C3-901A-A2F7955D37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5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7.xml"/><Relationship Id="rId44" Type="http://schemas.openxmlformats.org/officeDocument/2006/relationships/font" Target="fonts/Alexandria-bold.fntdata"/><Relationship Id="rId21" Type="http://schemas.openxmlformats.org/officeDocument/2006/relationships/slide" Target="slides/slide16.xml"/><Relationship Id="rId43" Type="http://schemas.openxmlformats.org/officeDocument/2006/relationships/font" Target="fonts/Alexandria-regular.fntdata"/><Relationship Id="rId24" Type="http://schemas.openxmlformats.org/officeDocument/2006/relationships/slide" Target="slides/slide19.xml"/><Relationship Id="rId46" Type="http://schemas.openxmlformats.org/officeDocument/2006/relationships/font" Target="fonts/RobotoMono-bold.fntdata"/><Relationship Id="rId23" Type="http://schemas.openxmlformats.org/officeDocument/2006/relationships/slide" Target="slides/slide18.xml"/><Relationship Id="rId45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RobotoMono-boldItalic.fntdata"/><Relationship Id="rId25" Type="http://schemas.openxmlformats.org/officeDocument/2006/relationships/slide" Target="slides/slide20.xml"/><Relationship Id="rId47" Type="http://schemas.openxmlformats.org/officeDocument/2006/relationships/font" Target="fonts/RobotoMon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5ff9fdc14_3_0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75ff9fdc14_3_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75ff9fdc14_3_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5ff9fdc14_3_23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375ff9fdc14_3_23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75ff9fdc14_3_23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f9fdc14_3_33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375ff9fdc14_3_33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75ff9fdc14_3_33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5ff9fdc14_3_54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g375ff9fdc14_3_54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75ff9fdc14_3_54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5ff9fdc14_3_63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g375ff9fdc14_3_63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75ff9fdc14_3_63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5ff9fdc14_3_72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g375ff9fdc14_3_72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75ff9fdc14_3_72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5ff9fdc14_3_87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g375ff9fdc14_3_87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75ff9fdc14_3_87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5ff9fdc14_3_95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g375ff9fdc14_3_95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75ff9fdc14_3_95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5ff9fdc14_3_108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75ff9fdc14_3_108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75ff9fdc14_3_108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5ff9fdc14_3_116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g375ff9fdc14_3_116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75ff9fdc14_3_116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5ff9fdc14_3_124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75ff9fdc14_3_124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75ff9fdc14_3_124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5ff9fdc14_3_139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75ff9fdc14_3_139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75ff9fdc14_3_139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5ff9fdc14_3_152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75ff9fdc14_3_152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75ff9fdc14_3_152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5ff9fdc14_3_165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75ff9fdc14_3_165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75ff9fdc14_3_165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1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6075aea99_0_8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76075aea99_0_8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76075aea99_0_8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6075aea99_0_4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76075aea99_0_4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76075aea99_0_47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76075aea99_0_3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76075aea99_0_3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76075aea99_0_32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6075aea99_0_5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76075aea99_0_55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76075aea99_0_55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76075aea99_0_6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76075aea99_0_64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76075aea99_0_64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2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US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_SLIDE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lvl="0" algn="r">
              <a:buNone/>
              <a:defRPr sz="1900"/>
            </a:lvl1pPr>
            <a:lvl2pPr lvl="1" algn="r">
              <a:buNone/>
              <a:defRPr sz="1900"/>
            </a:lvl2pPr>
            <a:lvl3pPr lvl="2" algn="r">
              <a:buNone/>
              <a:defRPr sz="1900"/>
            </a:lvl3pPr>
            <a:lvl4pPr lvl="3" algn="r">
              <a:buNone/>
              <a:defRPr sz="1900"/>
            </a:lvl4pPr>
            <a:lvl5pPr lvl="4" algn="r">
              <a:buNone/>
              <a:defRPr sz="1900"/>
            </a:lvl5pPr>
            <a:lvl6pPr lvl="5" algn="r">
              <a:buNone/>
              <a:defRPr sz="1900"/>
            </a:lvl6pPr>
            <a:lvl7pPr lvl="6" algn="r">
              <a:buNone/>
              <a:defRPr sz="1900"/>
            </a:lvl7pPr>
            <a:lvl8pPr lvl="7" algn="r">
              <a:buNone/>
              <a:defRPr sz="1900"/>
            </a:lvl8pPr>
            <a:lvl9pPr lvl="8" algn="r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775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1417320" y="6053400"/>
            <a:ext cx="283428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1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57010" y="1201460"/>
            <a:ext cx="129840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97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410">
                <a:solidFill>
                  <a:srgbClr val="4A86E8"/>
                </a:solidFill>
              </a:rPr>
              <a:t>Designing a Personal Finance App Mint.com</a:t>
            </a:r>
            <a:endParaRPr b="1" i="0" sz="6410" u="none" cap="none" strike="noStrike">
              <a:solidFill>
                <a:srgbClr val="4A86E8"/>
              </a:solidFill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1286850" y="4031600"/>
            <a:ext cx="11527200" cy="3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4A86E8"/>
                </a:solidFill>
              </a:rPr>
              <a:t>Presented by:</a:t>
            </a:r>
            <a:endParaRPr sz="27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4A86E8"/>
                </a:solidFill>
              </a:rPr>
              <a:t>			Md. Abul Kalam Azad - 1425</a:t>
            </a:r>
            <a:endParaRPr sz="27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4A86E8"/>
                </a:solidFill>
              </a:rPr>
              <a:t>			Mahshin Islam - 1</a:t>
            </a:r>
            <a:r>
              <a:rPr lang="en-US" sz="2700">
                <a:solidFill>
                  <a:srgbClr val="4A86E8"/>
                </a:solidFill>
              </a:rPr>
              <a:t>428</a:t>
            </a:r>
            <a:endParaRPr sz="27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4A86E8"/>
                </a:solidFill>
              </a:rPr>
              <a:t>			Kazi Nahid  - 1437</a:t>
            </a:r>
            <a:endParaRPr sz="27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4A86E8"/>
                </a:solidFill>
              </a:rPr>
              <a:t>			Md. Nazmus Shakib - 1452</a:t>
            </a:r>
            <a:endParaRPr sz="2700">
              <a:solidFill>
                <a:srgbClr val="4A86E8"/>
              </a:solidFill>
            </a:endParaRPr>
          </a:p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" name="Google Shape;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831960" y="1654920"/>
            <a:ext cx="1298412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10" u="none" cap="none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CONTENTS</a:t>
            </a:r>
            <a:endParaRPr b="0" i="0" sz="64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78925" y="3072249"/>
            <a:ext cx="419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0" u="none" cap="none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1. </a:t>
            </a:r>
            <a:r>
              <a:rPr lang="en-US" sz="2320">
                <a:latin typeface="Alexandria"/>
                <a:ea typeface="Alexandria"/>
                <a:cs typeface="Alexandria"/>
                <a:sym typeface="Alexandria"/>
              </a:rPr>
              <a:t>Problem Scope &amp; Goal</a:t>
            </a:r>
            <a:endParaRPr b="0" i="0" sz="2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78920" y="4078080"/>
            <a:ext cx="383112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0" u="none" cap="none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4. Scalability &amp; Reliability</a:t>
            </a:r>
            <a:endParaRPr b="0" i="0" sz="2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78920" y="5074920"/>
            <a:ext cx="383112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0" u="none" cap="none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7. Design Trade-offs</a:t>
            </a:r>
            <a:endParaRPr b="0" i="0" sz="2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04198" y="2889403"/>
            <a:ext cx="38310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0" u="none" cap="none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2. High-Level Architecture</a:t>
            </a:r>
            <a:endParaRPr b="0" i="0" sz="2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275313" y="4073675"/>
            <a:ext cx="44646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0" u="none" cap="none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5. Performance Optimization</a:t>
            </a:r>
            <a:endParaRPr b="0" i="0" sz="2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729350" y="2980888"/>
            <a:ext cx="48012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0" u="none" cap="none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3. Designing Core</a:t>
            </a:r>
            <a:r>
              <a:rPr lang="en-US" sz="2320">
                <a:latin typeface="Alexandria"/>
                <a:ea typeface="Alexandria"/>
                <a:cs typeface="Alexandria"/>
                <a:sym typeface="Alexandria"/>
              </a:rPr>
              <a:t> Components</a:t>
            </a:r>
            <a:endParaRPr b="0" i="0" sz="2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874085" y="3982180"/>
            <a:ext cx="38310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0" u="none" cap="none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6. Security Considerations</a:t>
            </a:r>
            <a:endParaRPr b="0" i="0" sz="2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960" y="6163200"/>
            <a:ext cx="12984120" cy="3636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/>
          <p:nvPr/>
        </p:nvSpPr>
        <p:spPr>
          <a:xfrm>
            <a:off x="831960" y="1280160"/>
            <a:ext cx="12984120" cy="221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30" u="none" cap="none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01</a:t>
            </a:r>
            <a:endParaRPr b="0" i="0" sz="139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31960" y="3758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31960" y="4316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31960" y="4883040"/>
            <a:ext cx="1298412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10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Problem Scope &amp; Goal</a:t>
            </a:r>
            <a:endParaRPr b="0" i="0" sz="64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831960" y="6455520"/>
            <a:ext cx="129841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i="0" sz="1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 txBox="1"/>
          <p:nvPr/>
        </p:nvSpPr>
        <p:spPr>
          <a:xfrm>
            <a:off x="1912800" y="1137900"/>
            <a:ext cx="10387200" cy="57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Problem Scope &amp; Goals</a:t>
            </a:r>
            <a:br>
              <a:rPr b="1" lang="en-US" sz="2100">
                <a:solidFill>
                  <a:schemeClr val="dk1"/>
                </a:solidFill>
              </a:rPr>
            </a:br>
            <a:r>
              <a:rPr lang="en-US" sz="2100">
                <a:solidFill>
                  <a:schemeClr val="dk1"/>
                </a:solidFill>
              </a:rPr>
              <a:t> </a:t>
            </a:r>
            <a:r>
              <a:rPr b="1" lang="en-US" sz="2100">
                <a:solidFill>
                  <a:schemeClr val="dk1"/>
                </a:solidFill>
              </a:rPr>
              <a:t>Use Cases: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Connect user to financial account(s)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Extract &amp; update transactions daily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Categorize transactions (manual override allowed)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Monthly spending analysis by category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Recommend &amp; set budgets (manual override)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Notifications when near/exceeding budget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 txBox="1"/>
          <p:nvPr/>
        </p:nvSpPr>
        <p:spPr>
          <a:xfrm>
            <a:off x="1947600" y="929125"/>
            <a:ext cx="10387200" cy="57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Problem Scope &amp; Goals</a:t>
            </a:r>
            <a:br>
              <a:rPr b="1" lang="en-US" sz="2100">
                <a:solidFill>
                  <a:schemeClr val="dk1"/>
                </a:solidFill>
              </a:rPr>
            </a:br>
            <a:r>
              <a:rPr lang="en-US" sz="2100">
                <a:solidFill>
                  <a:schemeClr val="dk1"/>
                </a:solidFill>
              </a:rPr>
              <a:t> </a:t>
            </a:r>
            <a:r>
              <a:rPr b="1" lang="en-US" sz="2100">
                <a:solidFill>
                  <a:schemeClr val="dk1"/>
                </a:solidFill>
              </a:rPr>
              <a:t>Constraints and Assumptions</a:t>
            </a:r>
            <a:r>
              <a:rPr b="1" lang="en-US" sz="2100">
                <a:solidFill>
                  <a:schemeClr val="dk1"/>
                </a:solidFill>
              </a:rPr>
              <a:t>:</a:t>
            </a:r>
            <a:endParaRPr b="1" sz="2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Traffic is not evenly distributed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Automatic daily update of accounts applies only to users active in the past 30 days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Adding or removing financial accounts is relatively rare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Budget notifications don't need to be instant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10M users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10 categories/user → </a:t>
            </a:r>
            <a:r>
              <a:rPr b="1" lang="en-US" sz="1900">
                <a:solidFill>
                  <a:schemeClr val="dk1"/>
                </a:solidFill>
              </a:rPr>
              <a:t>100M budget items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30M financial accounts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5B transactions/month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500M reads/month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Write-heavy system</a:t>
            </a:r>
            <a:r>
              <a:rPr lang="en-US" sz="1900">
                <a:solidFill>
                  <a:schemeClr val="dk1"/>
                </a:solidFill>
              </a:rPr>
              <a:t> (10:1 write-to-read)</a:t>
            </a:r>
            <a:br>
              <a:rPr lang="en-US" sz="1900">
                <a:solidFill>
                  <a:schemeClr val="dk1"/>
                </a:solidFill>
              </a:rPr>
            </a:br>
            <a:br>
              <a:rPr lang="en-US" sz="1900">
                <a:solidFill>
                  <a:schemeClr val="dk1"/>
                </a:solidFill>
              </a:rPr>
            </a:b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3" name="Google Shape;73;p7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7187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 txBox="1"/>
          <p:nvPr/>
        </p:nvSpPr>
        <p:spPr>
          <a:xfrm>
            <a:off x="1962725" y="407175"/>
            <a:ext cx="107046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Data Volume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Estimated size per budget record:~</a:t>
            </a:r>
            <a:r>
              <a:rPr b="1" lang="en-US" sz="1900">
                <a:solidFill>
                  <a:schemeClr val="dk1"/>
                </a:solidFill>
              </a:rPr>
              <a:t>43 bytes</a:t>
            </a:r>
            <a:endParaRPr b="1" sz="1900">
              <a:solidFill>
                <a:schemeClr val="dk1"/>
              </a:solidFill>
            </a:endParaRPr>
          </a:p>
          <a:p>
            <a:pPr indent="-3492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user_id: 8 bytes</a:t>
            </a:r>
            <a:endParaRPr sz="1900">
              <a:solidFill>
                <a:schemeClr val="dk1"/>
              </a:solidFill>
            </a:endParaRPr>
          </a:p>
          <a:p>
            <a:pPr indent="-3492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category_name: 20 bytes</a:t>
            </a:r>
            <a:endParaRPr sz="1900">
              <a:solidFill>
                <a:schemeClr val="dk1"/>
              </a:solidFill>
            </a:endParaRPr>
          </a:p>
          <a:p>
            <a:pPr indent="-3492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budget_amount: 5 bytes</a:t>
            </a:r>
            <a:endParaRPr sz="1900">
              <a:solidFill>
                <a:schemeClr val="dk1"/>
              </a:solidFill>
            </a:endParaRPr>
          </a:p>
          <a:p>
            <a:pPr indent="-3492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created_at: 5 bytes</a:t>
            </a:r>
            <a:endParaRPr sz="1900">
              <a:solidFill>
                <a:schemeClr val="dk1"/>
              </a:solidFill>
            </a:endParaRPr>
          </a:p>
          <a:p>
            <a:pPr indent="-3492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updated_at: 5 bytes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Per-user budget storage: 43 × 10 = </a:t>
            </a:r>
            <a:r>
              <a:rPr b="1" lang="en-US" sz="1900">
                <a:solidFill>
                  <a:schemeClr val="dk1"/>
                </a:solidFill>
              </a:rPr>
              <a:t>430 bytes</a:t>
            </a:r>
            <a:br>
              <a:rPr b="1" lang="en-US" sz="1900">
                <a:solidFill>
                  <a:schemeClr val="dk1"/>
                </a:solidFill>
              </a:rPr>
            </a:b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10M users → </a:t>
            </a:r>
            <a:r>
              <a:rPr b="1" lang="en-US" sz="1900">
                <a:solidFill>
                  <a:schemeClr val="dk1"/>
                </a:solidFill>
              </a:rPr>
              <a:t>4.3 GB</a:t>
            </a:r>
            <a:r>
              <a:rPr lang="en-US" sz="1900">
                <a:solidFill>
                  <a:schemeClr val="dk1"/>
                </a:solidFill>
              </a:rPr>
              <a:t> total budget data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2" name="Google Shape;82;p8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 txBox="1"/>
          <p:nvPr/>
        </p:nvSpPr>
        <p:spPr>
          <a:xfrm>
            <a:off x="1962725" y="407175"/>
            <a:ext cx="107046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Data Volume</a:t>
            </a:r>
            <a:br>
              <a:rPr b="1" lang="en-US" sz="21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Estimated size per transaction</a:t>
            </a:r>
            <a:r>
              <a:rPr b="1" lang="en-US" sz="1900">
                <a:solidFill>
                  <a:schemeClr val="dk1"/>
                </a:solidFill>
              </a:rPr>
              <a:t>:</a:t>
            </a:r>
            <a:r>
              <a:rPr lang="en-US" sz="1900">
                <a:solidFill>
                  <a:schemeClr val="dk1"/>
                </a:solidFill>
              </a:rPr>
              <a:t> ~</a:t>
            </a:r>
            <a:r>
              <a:rPr b="1" lang="en-US" sz="1900">
                <a:solidFill>
                  <a:schemeClr val="dk1"/>
                </a:solidFill>
              </a:rPr>
              <a:t>50 bytes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user_id: 8 bytes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created_at: 5 bytes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seller: 32 bytes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amount: 5 bytes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Monthly: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50 bytes × 5B transactions = </a:t>
            </a:r>
            <a:r>
              <a:rPr b="1" lang="en-US" sz="1900">
                <a:solidFill>
                  <a:schemeClr val="dk1"/>
                </a:solidFill>
              </a:rPr>
              <a:t>250 GB/month</a:t>
            </a:r>
            <a:r>
              <a:rPr lang="en-US" sz="1900">
                <a:solidFill>
                  <a:schemeClr val="dk1"/>
                </a:solidFill>
              </a:rPr>
              <a:t>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3 Years</a:t>
            </a:r>
            <a:r>
              <a:rPr b="1" lang="en-US" sz="1900">
                <a:solidFill>
                  <a:schemeClr val="dk1"/>
                </a:solidFill>
              </a:rPr>
              <a:t>:</a:t>
            </a:r>
            <a:r>
              <a:rPr lang="en-US" sz="1900">
                <a:solidFill>
                  <a:schemeClr val="dk1"/>
                </a:solidFill>
              </a:rPr>
              <a:t>~</a:t>
            </a:r>
            <a:r>
              <a:rPr b="1" lang="en-US" sz="1900">
                <a:solidFill>
                  <a:schemeClr val="dk1"/>
                </a:solidFill>
              </a:rPr>
              <a:t>9 TB</a:t>
            </a:r>
            <a:r>
              <a:rPr lang="en-US" sz="1900">
                <a:solidFill>
                  <a:schemeClr val="dk1"/>
                </a:solidFill>
              </a:rPr>
              <a:t> total storage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91" name="Google Shape;91;p9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" name="Google Shape;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0"/>
          <p:cNvSpPr txBox="1"/>
          <p:nvPr/>
        </p:nvSpPr>
        <p:spPr>
          <a:xfrm>
            <a:off x="1962725" y="407175"/>
            <a:ext cx="107046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Traffic Estimates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2,000 transactions/sec (avg)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200 read requests/sec (avg)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Conversion guide: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1 req/sec → 2.5M req/month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40 req/sec → 100M req/month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400 req/sec → 1B req/month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00" name="Google Shape;100;p10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6" name="Google Shape;1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960" y="6163200"/>
            <a:ext cx="12984120" cy="36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/>
          <p:nvPr/>
        </p:nvSpPr>
        <p:spPr>
          <a:xfrm>
            <a:off x="831960" y="1280160"/>
            <a:ext cx="12984120" cy="221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30" u="none" cap="none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02</a:t>
            </a:r>
            <a:endParaRPr b="0" i="0" sz="139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831960" y="3758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831960" y="4316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831960" y="4883040"/>
            <a:ext cx="1298412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10" u="none" cap="none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High-Level Architecture</a:t>
            </a:r>
            <a:endParaRPr b="0" i="0" sz="64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831960" y="6455520"/>
            <a:ext cx="129841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i="0" sz="1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/>
          <p:nvPr/>
        </p:nvSpPr>
        <p:spPr>
          <a:xfrm>
            <a:off x="831960" y="1280160"/>
            <a:ext cx="12984120" cy="221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831960" y="3758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831960" y="4316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831960" y="4883040"/>
            <a:ext cx="1298412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445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831960" y="6455520"/>
            <a:ext cx="129841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sz="14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2" title="687474703a2f2f692e696d6775722e636f6d2f45386b6c7242682e706e6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2618" y="0"/>
            <a:ext cx="8825164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4" name="Google Shape;1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960" y="6163200"/>
            <a:ext cx="12984120" cy="36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/>
          <p:nvPr/>
        </p:nvSpPr>
        <p:spPr>
          <a:xfrm>
            <a:off x="831960" y="1280160"/>
            <a:ext cx="12984120" cy="221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93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03</a:t>
            </a:r>
            <a:endParaRPr b="0" sz="139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831960" y="3758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831960" y="4316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831960" y="4883040"/>
            <a:ext cx="1298412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10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Designing </a:t>
            </a:r>
            <a:r>
              <a:rPr b="0" lang="en-US" sz="641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Core </a:t>
            </a:r>
            <a:r>
              <a:rPr lang="en-US" sz="6410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Components</a:t>
            </a:r>
            <a:endParaRPr b="0" sz="641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831960" y="6455520"/>
            <a:ext cx="129841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sz="14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3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Google Shape;1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805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1962725" y="407175"/>
            <a:ext cx="107046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Use Case 1: User connects to a financial account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Flow:														  Accounts Table Schema:	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Client sends account connection request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Web Server acts as a reverse proxy and forwards request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Accounts API Server processes request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Updates accounts table in SQL Database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Store info for 10 million users in a relational database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Indexes on: id, user_id, created_at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Speeds up lookups to logarithmic time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Keeps frequently accessed data in memory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Use Remote Procedure Calls (RPC) between services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151" name="Google Shape;151;p14" title="Screenshot 2025-08-09 20133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73400" y="2973125"/>
            <a:ext cx="5050300" cy="32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8" name="Google Shape;1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/>
        </p:nvSpPr>
        <p:spPr>
          <a:xfrm>
            <a:off x="1962725" y="407175"/>
            <a:ext cx="107046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Use case 2 : Transaction Extraction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When triggered:</a:t>
            </a:r>
            <a:br>
              <a:rPr b="1"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 • User links account</a:t>
            </a:r>
            <a:br>
              <a:rPr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 • User refreshes manually</a:t>
            </a:r>
            <a:br>
              <a:rPr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 • Daily auto-refresh for active users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Data Flow:</a:t>
            </a:r>
            <a:endParaRPr b="1"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Client → Web Server → Accounts API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Accounts API places job in </a:t>
            </a:r>
            <a:r>
              <a:rPr b="1" lang="en-US" sz="1900">
                <a:solidFill>
                  <a:schemeClr val="dk1"/>
                </a:solidFill>
              </a:rPr>
              <a:t>Queue</a:t>
            </a:r>
            <a:r>
              <a:rPr lang="en-US" sz="1900">
                <a:solidFill>
                  <a:schemeClr val="dk1"/>
                </a:solidFill>
              </a:rPr>
              <a:t> (SQS/RabbitMQ)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US" sz="1900">
                <a:solidFill>
                  <a:schemeClr val="dk1"/>
                </a:solidFill>
              </a:rPr>
              <a:t>Transaction Extraction Service</a:t>
            </a:r>
            <a:r>
              <a:rPr lang="en-US" sz="1900">
                <a:solidFill>
                  <a:schemeClr val="dk1"/>
                </a:solidFill>
              </a:rPr>
              <a:t> asynchronously:</a:t>
            </a:r>
            <a:endParaRPr sz="1900"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en-US" sz="1900">
                <a:solidFill>
                  <a:schemeClr val="dk1"/>
                </a:solidFill>
              </a:rPr>
              <a:t>Fetches transactions from financial institution</a:t>
            </a:r>
            <a:endParaRPr sz="1900"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en-US" sz="1900">
                <a:solidFill>
                  <a:schemeClr val="dk1"/>
                </a:solidFill>
              </a:rPr>
              <a:t>Stores raw logs in Object Store</a:t>
            </a:r>
            <a:endParaRPr sz="1900"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en-US" sz="1900">
                <a:solidFill>
                  <a:schemeClr val="dk1"/>
                </a:solidFill>
              </a:rPr>
              <a:t>Categorizes transactions</a:t>
            </a:r>
            <a:endParaRPr sz="1900"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en-US" sz="1900">
                <a:solidFill>
                  <a:schemeClr val="dk1"/>
                </a:solidFill>
              </a:rPr>
              <a:t>Calculates monthly spending</a:t>
            </a:r>
            <a:endParaRPr sz="1900"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en-US" sz="1900">
                <a:solidFill>
                  <a:schemeClr val="dk1"/>
                </a:solidFill>
              </a:rPr>
              <a:t>Updates DB tables (</a:t>
            </a:r>
            <a:r>
              <a:rPr lang="en-US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transactions</a:t>
            </a:r>
            <a:r>
              <a:rPr lang="en-US" sz="1900">
                <a:solidFill>
                  <a:schemeClr val="dk1"/>
                </a:solidFill>
              </a:rPr>
              <a:t>, </a:t>
            </a:r>
            <a:r>
              <a:rPr lang="en-US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monthly_spending</a:t>
            </a:r>
            <a:r>
              <a:rPr lang="en-US" sz="1900">
                <a:solidFill>
                  <a:schemeClr val="dk1"/>
                </a:solidFill>
              </a:rPr>
              <a:t>)</a:t>
            </a:r>
            <a:endParaRPr sz="1900">
              <a:solidFill>
                <a:schemeClr val="dk1"/>
              </a:solidFill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en-US" sz="1900">
                <a:solidFill>
                  <a:schemeClr val="dk1"/>
                </a:solidFill>
              </a:rPr>
              <a:t>Sends notification via Notification Service (async)</a:t>
            </a:r>
            <a:endParaRPr sz="1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1891775" y="4796650"/>
            <a:ext cx="108465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Transactions Table:</a:t>
            </a:r>
            <a:r>
              <a:rPr lang="en-US" sz="1900">
                <a:solidFill>
                  <a:schemeClr val="dk1"/>
                </a:solidFill>
              </a:rPr>
              <a:t> Indexed on id, user_id, created_at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Monthly Spending Table: </a:t>
            </a:r>
            <a:r>
              <a:rPr lang="en-US" sz="1900">
                <a:solidFill>
                  <a:schemeClr val="dk1"/>
                </a:solidFill>
              </a:rPr>
              <a:t>Indexed on id, user_id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Category Service:</a:t>
            </a:r>
            <a:br>
              <a:rPr b="1"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 • Pre-seeded seller-to-category map (~50k sellers, ~12MB RAM)</a:t>
            </a:r>
            <a:br>
              <a:rPr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 • Use crowdsourced overrides for unknown sellers</a:t>
            </a:r>
            <a:br>
              <a:rPr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 • Fast O(1) lookup with heap structure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170" name="Google Shape;170;p16" title="Screenshot 2025-08-09 2118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5750" y="1985603"/>
            <a:ext cx="3924300" cy="230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title="Screenshot 2025-08-09 21184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0700" y="1985603"/>
            <a:ext cx="3924300" cy="223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1938600" y="4222350"/>
            <a:ext cx="34449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Transactions Table Schema</a:t>
            </a:r>
            <a:endParaRPr sz="1800"/>
          </a:p>
        </p:txBody>
      </p:sp>
      <p:sp>
        <p:nvSpPr>
          <p:cNvPr id="173" name="Google Shape;173;p16"/>
          <p:cNvSpPr txBox="1"/>
          <p:nvPr/>
        </p:nvSpPr>
        <p:spPr>
          <a:xfrm>
            <a:off x="6761250" y="4222350"/>
            <a:ext cx="42495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Monthly_Spending</a:t>
            </a:r>
            <a:r>
              <a:rPr lang="en-US" sz="1800"/>
              <a:t> Table Schema</a:t>
            </a:r>
            <a:endParaRPr sz="1800"/>
          </a:p>
        </p:txBody>
      </p:sp>
      <p:sp>
        <p:nvSpPr>
          <p:cNvPr id="174" name="Google Shape;174;p16"/>
          <p:cNvSpPr txBox="1"/>
          <p:nvPr/>
        </p:nvSpPr>
        <p:spPr>
          <a:xfrm>
            <a:off x="1675625" y="1216825"/>
            <a:ext cx="6045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Use case 2 : Transaction Extraction</a:t>
            </a:r>
            <a:endParaRPr sz="1800"/>
          </a:p>
        </p:txBody>
      </p:sp>
      <p:sp>
        <p:nvSpPr>
          <p:cNvPr id="175" name="Google Shape;175;p16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7187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1962725" y="407175"/>
            <a:ext cx="107046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Use Case 3 : Recommends a Budget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Budget Recommendation Service Overview</a:t>
            </a:r>
            <a:endParaRPr b="1" sz="17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Start with a generic budget template based on user income tiers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Avoid storing all budget items (~100 million); only store user overrides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Overrides stored in </a:t>
            </a:r>
            <a:r>
              <a:rPr lang="en-US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budget_overrides</a:t>
            </a:r>
            <a:r>
              <a:rPr lang="en-US" sz="1900">
                <a:solidFill>
                  <a:schemeClr val="dk1"/>
                </a:solidFill>
              </a:rPr>
              <a:t> table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Example budget allocations: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Housing: 40% of income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Food: 20%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Gas: 10%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Shopping: 20%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84" name="Google Shape;184;p17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1962725" y="407175"/>
            <a:ext cx="107046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Use Case 3 : Recommends a Budget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Data Aggregation Strategy</a:t>
            </a:r>
            <a:endParaRPr b="1" sz="17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Use SQL queries on the </a:t>
            </a:r>
            <a:r>
              <a:rPr lang="en-US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transactions</a:t>
            </a:r>
            <a:r>
              <a:rPr lang="en-US" sz="1900">
                <a:solidFill>
                  <a:schemeClr val="dk1"/>
                </a:solidFill>
              </a:rPr>
              <a:t> table to generate </a:t>
            </a:r>
            <a:r>
              <a:rPr lang="en-US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monthly_spending</a:t>
            </a:r>
            <a:r>
              <a:rPr lang="en-US" sz="1900">
                <a:solidFill>
                  <a:schemeClr val="dk1"/>
                </a:solidFill>
              </a:rPr>
              <a:t> aggregates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Alternatively, use MapReduce on raw transaction logs to: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Categorize transactions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Calculate monthly spending per category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MapReduce reduces load on SQL database, suitable for large datasets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Re-run analysis when user updates budget category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93" name="Google Shape;193;p18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1962725" y="407175"/>
            <a:ext cx="107046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Use Case 3 : Recommends a Budget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MapReduce Job: </a:t>
            </a:r>
            <a:r>
              <a:rPr b="1" lang="en-US" sz="1700">
                <a:solidFill>
                  <a:schemeClr val="dk1"/>
                </a:solidFill>
              </a:rPr>
              <a:t>Spending By Category</a:t>
            </a:r>
            <a:endParaRPr b="1" sz="17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Input log format (tab-delimited):</a:t>
            </a:r>
            <a:br>
              <a:rPr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 </a:t>
            </a:r>
            <a:r>
              <a:rPr lang="en-US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user_id timestamp seller amount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Mapper: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Parse log lines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Categorize seller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Extract year and month from timestamp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Emit key-value pairs: </a:t>
            </a:r>
            <a:r>
              <a:rPr lang="en-US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(user_id, year-month, category) → amount</a:t>
            </a:r>
            <a:br>
              <a:rPr lang="en-US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Reducer: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Sum amounts per key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Emit total spending per user-category-month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5240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960" y="6163200"/>
            <a:ext cx="12984120" cy="363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/>
          <p:nvPr/>
        </p:nvSpPr>
        <p:spPr>
          <a:xfrm>
            <a:off x="831960" y="1280160"/>
            <a:ext cx="12984120" cy="221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93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04</a:t>
            </a:r>
            <a:endParaRPr b="0" sz="139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831960" y="3758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831960" y="4316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831960" y="4883040"/>
            <a:ext cx="1298412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41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Scalability &amp; Reliability</a:t>
            </a:r>
            <a:endParaRPr b="0" sz="641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831960" y="6455520"/>
            <a:ext cx="129841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sz="14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title="mi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6797" y="166850"/>
            <a:ext cx="10635404" cy="78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1962725" y="407175"/>
            <a:ext cx="107046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Scalability &amp; Reliability</a:t>
            </a:r>
            <a:endParaRPr b="1"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Scalability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Horizontal Scaling: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Multiple Web Servers behind a Load Balancer to distribute traffic.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 Replicas for SQL databases to handle high read loads (200+ requests/sec).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Partitioning: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Sharding by user_id to distribute transaction data across databases.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Federation to separate tables (e.g., transactions, budgets) into dedicated databases.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Caching: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Redis/Memcached for frequently accessed data (e.g., monthly spending, recent transactions).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CDN for static content (e.g., budget templates, UI assets).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Asynchronous Processing: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Queues  for transaction extraction and budget notifications.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MapReduce  for batch processing of transaction analytics.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33" name="Google Shape;233;p2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8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1962725" y="407175"/>
            <a:ext cx="107046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Scalability &amp; Reliability</a:t>
            </a:r>
            <a:endParaRPr b="1"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Reliability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Redundancy: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Multi-AZ Deployments for databases and services to ensure fault tolerance.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Master-Slave Failover for SQL databases to handle write failures.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Durability: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 Storage (e.g., S3) for raw transaction logs (250 GB/month).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Backups for SQL databases and analytics data.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42" name="Google Shape;242;p23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0" name="Google Shape;25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960" y="6163200"/>
            <a:ext cx="12984120" cy="363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831960" y="1280160"/>
            <a:ext cx="12984120" cy="221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93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05</a:t>
            </a:r>
            <a:endParaRPr b="0" sz="139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831960" y="3758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831960" y="4316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831960" y="4883040"/>
            <a:ext cx="1298412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10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r>
              <a:rPr b="0" lang="en-US" sz="641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Performance Optimization</a:t>
            </a:r>
            <a:endParaRPr b="0" sz="641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831960" y="6455520"/>
            <a:ext cx="129841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sz="14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4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7175" y="-4325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/>
          <p:nvPr/>
        </p:nvSpPr>
        <p:spPr>
          <a:xfrm>
            <a:off x="831960" y="1435680"/>
            <a:ext cx="1298412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strike="noStrike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Performance Optimization</a:t>
            </a:r>
            <a:endParaRPr b="1" sz="2100" strike="noStrike">
              <a:solidFill>
                <a:schemeClr val="dk1"/>
              </a:solidFill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1150775" y="2457050"/>
            <a:ext cx="55788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6" name="Google Shape;266;p25"/>
          <p:cNvSpPr txBox="1"/>
          <p:nvPr/>
        </p:nvSpPr>
        <p:spPr>
          <a:xfrm>
            <a:off x="1303175" y="2609450"/>
            <a:ext cx="55788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25"/>
          <p:cNvSpPr txBox="1"/>
          <p:nvPr/>
        </p:nvSpPr>
        <p:spPr>
          <a:xfrm>
            <a:off x="1455575" y="2761850"/>
            <a:ext cx="55788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8" name="Google Shape;268;p25"/>
          <p:cNvSpPr txBox="1"/>
          <p:nvPr/>
        </p:nvSpPr>
        <p:spPr>
          <a:xfrm>
            <a:off x="1607975" y="2914250"/>
            <a:ext cx="55788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9" name="Google Shape;269;p25"/>
          <p:cNvSpPr txBox="1"/>
          <p:nvPr/>
        </p:nvSpPr>
        <p:spPr>
          <a:xfrm>
            <a:off x="1760375" y="3066650"/>
            <a:ext cx="55788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25"/>
          <p:cNvSpPr txBox="1"/>
          <p:nvPr/>
        </p:nvSpPr>
        <p:spPr>
          <a:xfrm>
            <a:off x="969475" y="2609450"/>
            <a:ext cx="55788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1" name="Google Shape;271;p25"/>
          <p:cNvSpPr txBox="1"/>
          <p:nvPr/>
        </p:nvSpPr>
        <p:spPr>
          <a:xfrm>
            <a:off x="2065175" y="3371450"/>
            <a:ext cx="55788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2" name="Google Shape;272;p25"/>
          <p:cNvSpPr txBox="1"/>
          <p:nvPr/>
        </p:nvSpPr>
        <p:spPr>
          <a:xfrm>
            <a:off x="831950" y="2377000"/>
            <a:ext cx="55788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Database Optimization</a:t>
            </a:r>
            <a:endParaRPr b="1" sz="19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900">
                <a:solidFill>
                  <a:schemeClr val="dk1"/>
                </a:solidFill>
              </a:rPr>
              <a:t>Indexing</a:t>
            </a:r>
            <a:endParaRPr sz="19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900">
                <a:solidFill>
                  <a:schemeClr val="dk1"/>
                </a:solidFill>
              </a:rPr>
              <a:t>Data Partitioning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3" name="Google Shape;273;p25"/>
          <p:cNvSpPr txBox="1"/>
          <p:nvPr/>
        </p:nvSpPr>
        <p:spPr>
          <a:xfrm>
            <a:off x="6548275" y="2493700"/>
            <a:ext cx="5112300" cy="16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Caching</a:t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In-Memory Cache (Redis/Memcached)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CDN for Static Assets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4" name="Google Shape;274;p25"/>
          <p:cNvSpPr txBox="1"/>
          <p:nvPr/>
        </p:nvSpPr>
        <p:spPr>
          <a:xfrm>
            <a:off x="1014700" y="4478700"/>
            <a:ext cx="3868200" cy="16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Asynchronous Processing</a:t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Queue-Based Workflows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Batch Processing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6826900" y="4381500"/>
            <a:ext cx="4548600" cy="16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Latency Reduction</a:t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 Caching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Lazy Loading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5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2" name="Google Shape;2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4" name="Google Shape;28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960" y="6163200"/>
            <a:ext cx="12984120" cy="363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6"/>
          <p:cNvSpPr/>
          <p:nvPr/>
        </p:nvSpPr>
        <p:spPr>
          <a:xfrm>
            <a:off x="831960" y="1280160"/>
            <a:ext cx="12984120" cy="221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93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06</a:t>
            </a:r>
            <a:endParaRPr b="0" sz="139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831960" y="3758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831960" y="4316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831960" y="4883040"/>
            <a:ext cx="1298412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41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Security Considerations</a:t>
            </a:r>
            <a:endParaRPr b="0" sz="641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831960" y="6455520"/>
            <a:ext cx="129841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sz="14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6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6" name="Google Shape;2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320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7" name="Google Shape;29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45537"/>
            <a:ext cx="14630040" cy="832068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7"/>
          <p:cNvSpPr/>
          <p:nvPr/>
        </p:nvSpPr>
        <p:spPr>
          <a:xfrm>
            <a:off x="831960" y="649080"/>
            <a:ext cx="12984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18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Security Considerations</a:t>
            </a:r>
            <a:endParaRPr b="0" sz="41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353775" y="1537300"/>
            <a:ext cx="65670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Protection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Encryption: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b="1" lang="en-US" sz="2600">
                <a:solidFill>
                  <a:schemeClr val="dk1"/>
                </a:solidFill>
              </a:rPr>
              <a:t>TLS/SSL</a:t>
            </a:r>
            <a:r>
              <a:rPr lang="en-US" sz="2600">
                <a:solidFill>
                  <a:schemeClr val="dk1"/>
                </a:solidFill>
              </a:rPr>
              <a:t> for all communications(In Transit) .</a:t>
            </a:r>
            <a:endParaRPr sz="26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b="1" lang="en-US" sz="2600">
                <a:solidFill>
                  <a:schemeClr val="dk1"/>
                </a:solidFill>
              </a:rPr>
              <a:t>AES-256</a:t>
            </a:r>
            <a:r>
              <a:rPr lang="en-US" sz="2600">
                <a:solidFill>
                  <a:schemeClr val="dk1"/>
                </a:solidFill>
              </a:rPr>
              <a:t> for sensitive data(At Rest)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300" name="Google Shape;300;p27"/>
          <p:cNvSpPr txBox="1"/>
          <p:nvPr/>
        </p:nvSpPr>
        <p:spPr>
          <a:xfrm>
            <a:off x="7147525" y="1537300"/>
            <a:ext cx="72315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 Authentication &amp; Authorization</a:t>
            </a:r>
            <a:endParaRPr b="1" sz="26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Multi-Factor Authentication (MFA)</a:t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OAuth 2.0 for third-party integrations </a:t>
            </a:r>
            <a:endParaRPr b="1"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Role-Based Access Control (RBAC)</a:t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4720838" y="4618450"/>
            <a:ext cx="8199900" cy="23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 Threat Mitigation</a:t>
            </a:r>
            <a:endParaRPr b="1" sz="27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700">
                <a:solidFill>
                  <a:schemeClr val="dk1"/>
                </a:solidFill>
              </a:rPr>
              <a:t>Rate Limiting:</a:t>
            </a:r>
            <a:endParaRPr sz="2700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700">
                <a:solidFill>
                  <a:schemeClr val="dk1"/>
                </a:solidFill>
              </a:rPr>
              <a:t>Block brute-force attacks </a:t>
            </a:r>
            <a:endParaRPr sz="27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700">
                <a:solidFill>
                  <a:schemeClr val="dk1"/>
                </a:solidFill>
              </a:rPr>
              <a:t>DDoS Protection:</a:t>
            </a:r>
            <a:endParaRPr sz="2700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700">
                <a:solidFill>
                  <a:schemeClr val="dk1"/>
                </a:solidFill>
              </a:rPr>
              <a:t>Use Cloudflare/AWS Shield</a:t>
            </a:r>
            <a:endParaRPr sz="2600"/>
          </a:p>
        </p:txBody>
      </p:sp>
      <p:sp>
        <p:nvSpPr>
          <p:cNvPr id="302" name="Google Shape;302;p27"/>
          <p:cNvSpPr txBox="1"/>
          <p:nvPr/>
        </p:nvSpPr>
        <p:spPr>
          <a:xfrm>
            <a:off x="9172500" y="4401075"/>
            <a:ext cx="49569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7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9" name="Google Shape;3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320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45537"/>
            <a:ext cx="14630040" cy="832068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/>
          <p:nvPr/>
        </p:nvSpPr>
        <p:spPr>
          <a:xfrm>
            <a:off x="831960" y="649080"/>
            <a:ext cx="12984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1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353775" y="1537300"/>
            <a:ext cx="65670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313" name="Google Shape;313;p28"/>
          <p:cNvSpPr txBox="1"/>
          <p:nvPr/>
        </p:nvSpPr>
        <p:spPr>
          <a:xfrm>
            <a:off x="7147525" y="1537300"/>
            <a:ext cx="72315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8"/>
          <p:cNvSpPr txBox="1"/>
          <p:nvPr/>
        </p:nvSpPr>
        <p:spPr>
          <a:xfrm>
            <a:off x="4720838" y="4618450"/>
            <a:ext cx="8199900" cy="23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 Threat Mitigation</a:t>
            </a:r>
            <a:endParaRPr b="1" sz="27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700">
                <a:solidFill>
                  <a:schemeClr val="dk1"/>
                </a:solidFill>
              </a:rPr>
              <a:t>Rate Limiting:</a:t>
            </a:r>
            <a:endParaRPr sz="2700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700">
                <a:solidFill>
                  <a:schemeClr val="dk1"/>
                </a:solidFill>
              </a:rPr>
              <a:t>Block brute-force attacks </a:t>
            </a:r>
            <a:endParaRPr sz="27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700">
                <a:solidFill>
                  <a:schemeClr val="dk1"/>
                </a:solidFill>
              </a:rPr>
              <a:t>DDoS Protection:</a:t>
            </a:r>
            <a:endParaRPr sz="2700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700">
                <a:solidFill>
                  <a:schemeClr val="dk1"/>
                </a:solidFill>
              </a:rPr>
              <a:t>Use Cloudflare/AWS Shield </a:t>
            </a:r>
            <a:endParaRPr sz="27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700">
                <a:solidFill>
                  <a:schemeClr val="dk1"/>
                </a:solidFill>
              </a:rPr>
              <a:t>Regular Audits:</a:t>
            </a:r>
            <a:endParaRPr sz="27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2700">
                <a:solidFill>
                  <a:schemeClr val="dk1"/>
                </a:solidFill>
              </a:rPr>
              <a:t>Penetration testing and vulnerability scans</a:t>
            </a:r>
            <a:r>
              <a:rPr lang="en-US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315" name="Google Shape;315;p28"/>
          <p:cNvSpPr txBox="1"/>
          <p:nvPr/>
        </p:nvSpPr>
        <p:spPr>
          <a:xfrm>
            <a:off x="9172500" y="4401075"/>
            <a:ext cx="49569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28" title="Screenshot from 2025-08-10 09-53-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9601" y="-45526"/>
            <a:ext cx="12351207" cy="832067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8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3" name="Google Shape;3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4" name="Google Shape;32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5" name="Google Shape;32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960" y="6163200"/>
            <a:ext cx="12984120" cy="3636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/>
          <p:nvPr/>
        </p:nvSpPr>
        <p:spPr>
          <a:xfrm>
            <a:off x="831960" y="1280160"/>
            <a:ext cx="12984120" cy="221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93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07</a:t>
            </a:r>
            <a:endParaRPr b="0" sz="139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831960" y="3758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831960" y="4316040"/>
            <a:ext cx="12984120" cy="30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831960" y="4883040"/>
            <a:ext cx="1298412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41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Design Trade-offs</a:t>
            </a:r>
            <a:endParaRPr b="0" sz="641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831960" y="6455520"/>
            <a:ext cx="129841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sz="14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9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7" name="Google Shape;3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8" name="Google Shape;3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5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/>
          <p:nvPr/>
        </p:nvSpPr>
        <p:spPr>
          <a:xfrm>
            <a:off x="1024210" y="816170"/>
            <a:ext cx="129840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58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Design Trade-offs </a:t>
            </a:r>
            <a:r>
              <a:rPr lang="en-US" sz="3580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Overview</a:t>
            </a:r>
            <a:endParaRPr b="0" sz="358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941375" y="1935725"/>
            <a:ext cx="39498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4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Third-party Aggregator vs In-house Connectors</a:t>
            </a:r>
            <a:endParaRPr b="1" sz="1940" strike="noStrike">
              <a:solidFill>
                <a:srgbClr val="000000"/>
              </a:solidFill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982225" y="3055168"/>
            <a:ext cx="3949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9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• Third-party (</a:t>
            </a:r>
            <a:r>
              <a:rPr lang="en-US" sz="1690">
                <a:latin typeface="Alexandria"/>
                <a:ea typeface="Alexandria"/>
                <a:cs typeface="Alexandria"/>
                <a:sym typeface="Alexandria"/>
              </a:rPr>
              <a:t>Yodlee</a:t>
            </a:r>
            <a:r>
              <a:rPr b="0" lang="en-US" sz="169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-like): faster time-to-market, less risk in storing credentials, but costs + dependency</a:t>
            </a:r>
            <a:endParaRPr b="0" sz="16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1024200" y="4151520"/>
            <a:ext cx="3949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9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• In-house connectors: cheaper long term and flexible, but expensive to build and maintain</a:t>
            </a:r>
            <a:endParaRPr b="0" sz="16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1024200" y="5596025"/>
            <a:ext cx="3949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4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Real-time vs Batch Processing</a:t>
            </a:r>
            <a:endParaRPr b="1" sz="1940" strike="noStrike">
              <a:solidFill>
                <a:srgbClr val="000000"/>
              </a:solidFill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1024200" y="6071060"/>
            <a:ext cx="3949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9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• Real-time categorization improves UX but increases compute cost</a:t>
            </a:r>
            <a:endParaRPr b="0" sz="15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5211188" y="1880813"/>
            <a:ext cx="3949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4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Strong Consistency vs Availability</a:t>
            </a:r>
            <a:endParaRPr b="1" sz="1940" strike="noStrike">
              <a:solidFill>
                <a:srgbClr val="000000"/>
              </a:solidFill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5328190" y="2780785"/>
            <a:ext cx="3949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9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• Transactions ingestion benefits from eventual consistency</a:t>
            </a:r>
            <a:endParaRPr b="0" sz="17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5349177" y="5496450"/>
            <a:ext cx="3949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4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Hot vs Cold Data Tiers</a:t>
            </a:r>
            <a:endParaRPr b="1" sz="1940" strike="noStrike">
              <a:solidFill>
                <a:srgbClr val="000000"/>
              </a:solidFill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5349240" y="5878935"/>
            <a:ext cx="3949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9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• Keeping everything hot simplifies reads but is very expensive</a:t>
            </a:r>
            <a:endParaRPr b="0" sz="15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9481005" y="1935690"/>
            <a:ext cx="3949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4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SQL vs NoSQL</a:t>
            </a:r>
            <a:endParaRPr b="1" sz="1940" strike="noStrike">
              <a:solidFill>
                <a:srgbClr val="000000"/>
              </a:solidFill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9674155" y="5313075"/>
            <a:ext cx="3949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40" strike="noStrike">
              <a:solidFill>
                <a:srgbClr val="000000"/>
              </a:solidFill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9674305" y="5769335"/>
            <a:ext cx="3949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9674180" y="2671185"/>
            <a:ext cx="39498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90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• SQL (Postgres) for user metadata/ACID needs, NoSQL (Cassandra) for high-throughput writes</a:t>
            </a:r>
            <a:endParaRPr b="0" sz="15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5284100" y="3454700"/>
            <a:ext cx="41970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Financial data must be accurate.</a:t>
            </a:r>
            <a:br>
              <a:rPr b="1" lang="en-US" sz="1800"/>
            </a:br>
            <a:r>
              <a:rPr b="1" lang="en-US" sz="1800"/>
              <a:t>Eventual Consistency(Synchronizing external financial data)</a:t>
            </a:r>
            <a:endParaRPr b="1" sz="1800"/>
          </a:p>
        </p:txBody>
      </p:sp>
      <p:sp>
        <p:nvSpPr>
          <p:cNvPr id="354" name="Google Shape;354;p30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0" name="Google Shape;3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5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1" name="Google Shape;361;p31"/>
          <p:cNvGraphicFramePr/>
          <p:nvPr/>
        </p:nvGraphicFramePr>
        <p:xfrm>
          <a:off x="2232475" y="1913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{A28E5D36-4FF1-49C3-901A-A2F7955D37CA}</a:tableStyleId>
              </a:tblPr>
              <a:tblGrid>
                <a:gridCol w="3190700"/>
                <a:gridCol w="3791075"/>
                <a:gridCol w="3724350"/>
              </a:tblGrid>
              <a:tr h="614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Aspect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Third-Party Aggregator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In-House Aggregator</a:t>
                      </a:r>
                      <a:endParaRPr sz="2300"/>
                    </a:p>
                  </a:txBody>
                  <a:tcPr marT="63500" marB="63500" marR="63500" marL="63500"/>
                </a:tc>
              </a:tr>
              <a:tr h="96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Speed of </a:t>
                      </a:r>
                      <a:r>
                        <a:rPr b="1" lang="en-US" sz="2300"/>
                        <a:t>Implementation</a:t>
                      </a:r>
                      <a:endParaRPr b="1"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Fast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Slow</a:t>
                      </a:r>
                      <a:endParaRPr sz="2300"/>
                    </a:p>
                  </a:txBody>
                  <a:tcPr marT="63500" marB="63500" marR="63500" marL="63500"/>
                </a:tc>
              </a:tr>
              <a:tr h="96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Coverage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Wide (thousands of institutions)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Depends on development effort</a:t>
                      </a:r>
                      <a:endParaRPr sz="2300"/>
                    </a:p>
                  </a:txBody>
                  <a:tcPr marT="63500" marB="63500" marR="63500" marL="63500"/>
                </a:tc>
              </a:tr>
              <a:tr h="61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Control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Limited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Full</a:t>
                      </a:r>
                      <a:endParaRPr sz="2300"/>
                    </a:p>
                  </a:txBody>
                  <a:tcPr marT="63500" marB="63500" marR="63500" marL="63500"/>
                </a:tc>
              </a:tr>
              <a:tr h="96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Cost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Usage-based fees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High initial + maintenance cost</a:t>
                      </a:r>
                      <a:endParaRPr sz="2300"/>
                    </a:p>
                  </a:txBody>
                  <a:tcPr marT="63500" marB="63500" marR="63500" marL="63500"/>
                </a:tc>
              </a:tr>
              <a:tr h="61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Maintenance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Outsourced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In-house</a:t>
                      </a:r>
                      <a:endParaRPr sz="2300"/>
                    </a:p>
                  </a:txBody>
                  <a:tcPr marT="63500" marB="63500" marR="63500" marL="63500"/>
                </a:tc>
              </a:tr>
              <a:tr h="61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Security &amp; Privacy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Shared responsibility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Full responsibility</a:t>
                      </a:r>
                      <a:endParaRPr sz="2300"/>
                    </a:p>
                  </a:txBody>
                  <a:tcPr marT="63500" marB="63500" marR="63500" marL="63500"/>
                </a:tc>
              </a:tr>
              <a:tr h="61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Flexibility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Limited customization</a:t>
                      </a:r>
                      <a:endParaRPr sz="2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High</a:t>
                      </a:r>
                      <a:endParaRPr sz="23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362" name="Google Shape;362;p31"/>
          <p:cNvSpPr txBox="1"/>
          <p:nvPr/>
        </p:nvSpPr>
        <p:spPr>
          <a:xfrm>
            <a:off x="997850" y="551850"/>
            <a:ext cx="72345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47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24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Third-party Aggregator vs In-house Connectors</a:t>
            </a:r>
            <a:endParaRPr b="1" sz="224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363" name="Google Shape;363;p31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9" name="Google Shape;3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5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/>
        </p:nvSpPr>
        <p:spPr>
          <a:xfrm>
            <a:off x="574525" y="704250"/>
            <a:ext cx="5919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SQL vs No Sql</a:t>
            </a:r>
            <a:endParaRPr b="1" sz="2100"/>
          </a:p>
        </p:txBody>
      </p:sp>
      <p:pic>
        <p:nvPicPr>
          <p:cNvPr id="371" name="Google Shape;371;p32"/>
          <p:cNvPicPr preferRelativeResize="0"/>
          <p:nvPr/>
        </p:nvPicPr>
        <p:blipFill rotWithShape="1">
          <a:blip r:embed="rId4">
            <a:alphaModFix/>
          </a:blip>
          <a:srcRect b="7244" l="0" r="0" t="0"/>
          <a:stretch/>
        </p:blipFill>
        <p:spPr>
          <a:xfrm>
            <a:off x="-121575" y="1236675"/>
            <a:ext cx="14630401" cy="42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2"/>
          <p:cNvSpPr txBox="1"/>
          <p:nvPr/>
        </p:nvSpPr>
        <p:spPr>
          <a:xfrm>
            <a:off x="321275" y="5087525"/>
            <a:ext cx="7778700" cy="3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SQL: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User accounts &amp; profiles (strong consistency)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Recent transactions (ACID, relational integrity)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Financial reports &amp; complex queries (joins)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373" name="Google Shape;373;p32"/>
          <p:cNvSpPr txBox="1"/>
          <p:nvPr/>
        </p:nvSpPr>
        <p:spPr>
          <a:xfrm>
            <a:off x="5578925" y="3862925"/>
            <a:ext cx="73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4" name="Google Shape;374;p32"/>
          <p:cNvSpPr txBox="1"/>
          <p:nvPr/>
        </p:nvSpPr>
        <p:spPr>
          <a:xfrm>
            <a:off x="7756050" y="5087525"/>
            <a:ext cx="69876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NoSQL: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Bank API data &amp; logs (flexible schema)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Archived transactions &amp; large datasets (scalable)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Analytics &amp; dashboards (fast reads)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Caching &amp; search (ultra-fast access)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375" name="Google Shape;375;p3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1" name="Google Shape;38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5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 txBox="1"/>
          <p:nvPr/>
        </p:nvSpPr>
        <p:spPr>
          <a:xfrm>
            <a:off x="793750" y="846675"/>
            <a:ext cx="63273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Eventual vs Strong Consistency</a:t>
            </a:r>
            <a:endParaRPr b="1" sz="2300"/>
          </a:p>
        </p:txBody>
      </p:sp>
      <p:graphicFrame>
        <p:nvGraphicFramePr>
          <p:cNvPr id="383" name="Google Shape;383;p33"/>
          <p:cNvGraphicFramePr/>
          <p:nvPr/>
        </p:nvGraphicFramePr>
        <p:xfrm>
          <a:off x="2255600" y="232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{A28E5D36-4FF1-49C3-901A-A2F7955D37CA}</a:tableStyleId>
              </a:tblPr>
              <a:tblGrid>
                <a:gridCol w="2391700"/>
                <a:gridCol w="7429950"/>
              </a:tblGrid>
              <a:tr h="1073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Consistency Type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Use Case in Mint.com</a:t>
                      </a:r>
                      <a:endParaRPr sz="2400"/>
                    </a:p>
                  </a:txBody>
                  <a:tcPr marT="63500" marB="63500" marR="63500" marL="63500"/>
                </a:tc>
              </a:tr>
              <a:tr h="1073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Eventual Consistency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Synchronizing external financial data from banks and accounts (transactions, balances)</a:t>
                      </a:r>
                      <a:endParaRPr sz="2400"/>
                    </a:p>
                  </a:txBody>
                  <a:tcPr marT="63500" marB="63500" marR="63500" marL="63500"/>
                </a:tc>
              </a:tr>
              <a:tr h="1073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Strong Consistency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User profile changes, budgeting rules, transaction categorization done within Mint</a:t>
                      </a:r>
                      <a:endParaRPr sz="24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384" name="Google Shape;384;p33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0" name="Google Shape;3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5" y="0"/>
            <a:ext cx="14630040" cy="823824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4"/>
          <p:cNvSpPr txBox="1"/>
          <p:nvPr/>
        </p:nvSpPr>
        <p:spPr>
          <a:xfrm>
            <a:off x="774850" y="763825"/>
            <a:ext cx="86178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Batch Processing vs Stream Processing</a:t>
            </a:r>
            <a:endParaRPr b="1" sz="2400"/>
          </a:p>
        </p:txBody>
      </p:sp>
      <p:sp>
        <p:nvSpPr>
          <p:cNvPr id="392" name="Google Shape;392;p34"/>
          <p:cNvSpPr txBox="1"/>
          <p:nvPr/>
        </p:nvSpPr>
        <p:spPr>
          <a:xfrm>
            <a:off x="480025" y="1706525"/>
            <a:ext cx="69171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Where Mint uses Batch Processing:</a:t>
            </a:r>
            <a:endParaRPr b="1" sz="19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Daily bank transaction syncs</a:t>
            </a:r>
            <a:r>
              <a:rPr lang="en-US" sz="1700">
                <a:solidFill>
                  <a:schemeClr val="dk1"/>
                </a:solidFill>
              </a:rPr>
              <a:t> — pulling a big chunk of new data from user bank accounts.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Data analytics &amp; reporting</a:t>
            </a:r>
            <a:r>
              <a:rPr lang="en-US" sz="1700">
                <a:solidFill>
                  <a:schemeClr val="dk1"/>
                </a:solidFill>
              </a:rPr>
              <a:t> — calculating monthly spending, budgets, trends.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Data cleanup &amp; enrichment</a:t>
            </a:r>
            <a:r>
              <a:rPr lang="en-US" sz="1700">
                <a:solidFill>
                  <a:schemeClr val="dk1"/>
                </a:solidFill>
              </a:rPr>
              <a:t> — categorizing transactions, fraud detection, error corrections.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Why batch?</a:t>
            </a:r>
            <a:endParaRPr b="1" sz="19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Efficient for </a:t>
            </a:r>
            <a:r>
              <a:rPr b="1" lang="en-US" sz="1700">
                <a:solidFill>
                  <a:schemeClr val="dk1"/>
                </a:solidFill>
              </a:rPr>
              <a:t>large volumes</a:t>
            </a:r>
            <a:r>
              <a:rPr lang="en-US" sz="1700">
                <a:solidFill>
                  <a:schemeClr val="dk1"/>
                </a:solidFill>
              </a:rPr>
              <a:t> of data.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Can use heavy, complex computations without worrying about latency.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Easier to manage consistency because all data is processed at once.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93" name="Google Shape;393;p34"/>
          <p:cNvSpPr txBox="1"/>
          <p:nvPr/>
        </p:nvSpPr>
        <p:spPr>
          <a:xfrm>
            <a:off x="8005525" y="1743825"/>
            <a:ext cx="6624900" cy="6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Where Mint uses Stream Processing: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Instant transaction updates</a:t>
            </a:r>
            <a:r>
              <a:rPr lang="en-US" sz="1800">
                <a:solidFill>
                  <a:schemeClr val="dk1"/>
                </a:solidFill>
              </a:rPr>
              <a:t> — showing users new purchases immediately.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Real-time alerts</a:t>
            </a:r>
            <a:r>
              <a:rPr lang="en-US" sz="1800">
                <a:solidFill>
                  <a:schemeClr val="dk1"/>
                </a:solidFill>
              </a:rPr>
              <a:t> — notifying suspicious activity, budget limits exceeded.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Syncing live bank API events</a:t>
            </a:r>
            <a:r>
              <a:rPr lang="en-US" sz="1800">
                <a:solidFill>
                  <a:schemeClr val="dk1"/>
                </a:solidFill>
              </a:rPr>
              <a:t> where supported.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Why streaming?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Provides </a:t>
            </a:r>
            <a:r>
              <a:rPr b="1" lang="en-US" sz="1800">
                <a:solidFill>
                  <a:schemeClr val="dk1"/>
                </a:solidFill>
              </a:rPr>
              <a:t>low latency</a:t>
            </a:r>
            <a:r>
              <a:rPr lang="en-US" sz="1800">
                <a:solidFill>
                  <a:schemeClr val="dk1"/>
                </a:solidFill>
              </a:rPr>
              <a:t> user experience.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Enables </a:t>
            </a:r>
            <a:r>
              <a:rPr b="1" lang="en-US" sz="1800">
                <a:solidFill>
                  <a:schemeClr val="dk1"/>
                </a:solidFill>
              </a:rPr>
              <a:t>real-time notifications</a:t>
            </a:r>
            <a:r>
              <a:rPr lang="en-US" sz="1800">
                <a:solidFill>
                  <a:schemeClr val="dk1"/>
                </a:solidFill>
              </a:rPr>
              <a:t> and dashboards.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Keeps the system responsive and up-to-date.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394" name="Google Shape;394;p34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0" name="Google Shape;4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1" name="Google Shape;40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040" cy="823824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5"/>
          <p:cNvSpPr/>
          <p:nvPr/>
        </p:nvSpPr>
        <p:spPr>
          <a:xfrm>
            <a:off x="831960" y="3474720"/>
            <a:ext cx="1298412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410" strike="noStrike">
                <a:solidFill>
                  <a:srgbClr val="28538A"/>
                </a:solidFill>
                <a:latin typeface="Alexandria"/>
                <a:ea typeface="Alexandria"/>
                <a:cs typeface="Alexandria"/>
                <a:sym typeface="Alexandria"/>
              </a:rPr>
              <a:t>Thank You</a:t>
            </a:r>
            <a:endParaRPr b="0" sz="641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5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